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3" y="1280740"/>
            <a:ext cx="257175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" y="2012110"/>
            <a:ext cx="91440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3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MONITORAMENTO DE SAÚDE DE TRANSFORMADORES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1609130" y="3459138"/>
            <a:ext cx="604004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Operacional e Manutenção Preditiva via IoT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816298" y="3835971"/>
            <a:ext cx="56257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Eduardo Reis, Eryk Ricardo, Gabriel Silva Monteiro, Matheus Gustavo, Sérgio Murilo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DESAFIO DO MONITORAMENTO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5967"/>
            <a:ext cx="2647931" cy="2271713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99" y="1455986"/>
            <a:ext cx="433983" cy="3857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6797" y="2157859"/>
            <a:ext cx="12715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 Elevado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2925" y="2423964"/>
            <a:ext cx="24193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Sistemas comerciais custam entre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15.000 e R$ 80.000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tornando-os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inviáveis para pequenas instalações.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248006" y="1305967"/>
            <a:ext cx="2647959" cy="2271713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091" y="1455986"/>
            <a:ext cx="385763" cy="3857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64728" y="2157859"/>
            <a:ext cx="16144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Risco Operacional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2306" y="2423964"/>
            <a:ext cx="241935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Falhas não detectadas podem causar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interrupções críticas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danos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permanentes ao patrimônio.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067416" y="1305967"/>
            <a:ext cx="2647931" cy="2271713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500" y="1455986"/>
            <a:ext cx="385763" cy="3857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5227" y="2157859"/>
            <a:ext cx="13323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Falta de Dados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181716" y="2423964"/>
            <a:ext cx="241933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ausência de monitoramento em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real impede a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manutenção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preditiva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o diagnóstico precoce.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432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0989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JUSTIFICATIVA DO PROJETO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66631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2975" y="1380931"/>
            <a:ext cx="32646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Acessibilidade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42975" y="1718474"/>
            <a:ext cx="32646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de baixo custo (menos de R$ 200) com capacidade equivalente de detecção.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5724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2975" y="2690024"/>
            <a:ext cx="32646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Manutenção Preditiva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42975" y="3027566"/>
            <a:ext cx="32646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contínuo para detectar falhas antes que se tornem críticas.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4816"/>
            <a:ext cx="1714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5825" y="3999116"/>
            <a:ext cx="332184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Inovação IoT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85825" y="4336658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de processamento digital de sinais e inteligência artificial acessível.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636294" y="1209481"/>
            <a:ext cx="3936206" cy="3927277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786313" y="1557516"/>
            <a:ext cx="364331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Comparativo de Custo (R$)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862911"/>
            <a:ext cx="3636169" cy="25003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86313" y="4506099"/>
            <a:ext cx="36433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Valores estimados baseados em sistemas comerciais de mercado.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REQUISITOS DE HARDWARE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305967"/>
            <a:ext cx="8286750" cy="1773436"/>
          </a:xfrm>
          <a:prstGeom prst="rect">
            <a:avLst/>
          </a:prstGeom>
          <a:solidFill>
            <a:srgbClr val="3182CE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05967"/>
            <a:ext cx="1718518" cy="351830"/>
          </a:xfrm>
          <a:prstGeom prst="rect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643509"/>
            <a:ext cx="1718518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05967"/>
            <a:ext cx="1718518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COMPONENTE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7143" y="1305967"/>
            <a:ext cx="4743478" cy="351830"/>
          </a:xfrm>
          <a:prstGeom prst="rect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147143" y="1643509"/>
            <a:ext cx="4743478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0" name="Text 7"/>
          <p:cNvSpPr/>
          <p:nvPr/>
        </p:nvSpPr>
        <p:spPr>
          <a:xfrm>
            <a:off x="2147143" y="1305967"/>
            <a:ext cx="4743478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FUNÇÃO NO SISTEMA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90621" y="1305967"/>
            <a:ext cx="1824754" cy="351830"/>
          </a:xfrm>
          <a:prstGeom prst="rect">
            <a:avLst/>
          </a:prstGeom>
          <a:solidFill>
            <a:srgbClr val="3182CE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90621" y="1643509"/>
            <a:ext cx="1824754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Text 10"/>
          <p:cNvSpPr/>
          <p:nvPr/>
        </p:nvSpPr>
        <p:spPr>
          <a:xfrm>
            <a:off x="6890621" y="1305967"/>
            <a:ext cx="1824754" cy="35183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CONEXÃO (ESP32)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749772"/>
            <a:ext cx="178594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8669" y="1736378"/>
            <a:ext cx="1009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 DevKit V1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147143" y="1650653"/>
            <a:ext cx="4743478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central e conectividade WiFi/MQTT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76346" y="1707803"/>
            <a:ext cx="1145874" cy="232172"/>
          </a:xfrm>
          <a:prstGeom prst="rect">
            <a:avLst/>
          </a:prstGeom>
          <a:solidFill>
            <a:srgbClr val="3182CE">
              <a:alpha val="1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976346" y="1707803"/>
            <a:ext cx="1145874" cy="23217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MCU Principal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099816"/>
            <a:ext cx="178594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8669" y="2086421"/>
            <a:ext cx="8179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SCT-013-030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147143" y="2000696"/>
            <a:ext cx="474347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 corrente não invasivo (Primário/Secundário)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976346" y="2061418"/>
            <a:ext cx="1300190" cy="232172"/>
          </a:xfrm>
          <a:prstGeom prst="rect">
            <a:avLst/>
          </a:prstGeom>
          <a:solidFill>
            <a:srgbClr val="3182CE">
              <a:alpha val="1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6976346" y="2061418"/>
            <a:ext cx="1300190" cy="23217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GPIO34 / GPIO35</a:t>
            </a:r>
            <a:endParaRPr lang="en-US" sz="9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453432"/>
            <a:ext cx="178594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8669" y="2440037"/>
            <a:ext cx="550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DS18B20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147143" y="2354312"/>
            <a:ext cx="474347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Medição de temperatura do núcleo (OneWire)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976346" y="2415034"/>
            <a:ext cx="528665" cy="232172"/>
          </a:xfrm>
          <a:prstGeom prst="rect">
            <a:avLst/>
          </a:prstGeom>
          <a:solidFill>
            <a:srgbClr val="3182CE">
              <a:alpha val="15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976346" y="2415034"/>
            <a:ext cx="528665" cy="23217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GPIO4</a:t>
            </a:r>
            <a:endParaRPr lang="en-US" sz="9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807047"/>
            <a:ext cx="178594" cy="1285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78669" y="2793653"/>
            <a:ext cx="612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MPU6050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2147143" y="2707928"/>
            <a:ext cx="474347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vibração mecânica e impacto (I2C)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976346" y="2768650"/>
            <a:ext cx="1300190" cy="232172"/>
          </a:xfrm>
          <a:prstGeom prst="rect">
            <a:avLst/>
          </a:prstGeom>
          <a:solidFill>
            <a:srgbClr val="3182CE">
              <a:alpha val="15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976346" y="2768650"/>
            <a:ext cx="1300190" cy="23217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GPIO21 / GPIO22</a:t>
            </a:r>
            <a:endParaRPr lang="en-US" sz="9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839" y="3219599"/>
            <a:ext cx="114300" cy="1143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755577" y="3207990"/>
            <a:ext cx="281285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 acessível: Custo total inferior a R$ 200,00</a:t>
            </a:r>
            <a:endParaRPr lang="en-US" sz="8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4178" y="3219599"/>
            <a:ext cx="114300" cy="1143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39916" y="3207990"/>
            <a:ext cx="253424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Sensores industriais com isolamento galvânico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REQUISITOS DE SOFTWARE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05967"/>
            <a:ext cx="3957638" cy="1385888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11337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1408658"/>
            <a:ext cx="8554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Firmware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14400" y="1706017"/>
            <a:ext cx="1042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Desenvolvido em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957388" y="1706017"/>
            <a:ext cx="859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 / Arduino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85813" y="1904256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modular e não-bloqueante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785813" y="2102495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de sinais (FFT e RMS)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14863" y="1305967"/>
            <a:ext cx="3957638" cy="1385888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1411337"/>
            <a:ext cx="250031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4931" y="1408658"/>
            <a:ext cx="12287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57763" y="1706017"/>
            <a:ext cx="5804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5538192" y="1706017"/>
            <a:ext cx="3750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913239" y="1706017"/>
            <a:ext cx="612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(Pub/Sub)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829175" y="1904256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 Mosquitto para gestão de dados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829175" y="2102495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Payloads estruturados em JSON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71500" y="2777579"/>
            <a:ext cx="3957638" cy="1385888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882950"/>
            <a:ext cx="225028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6566" y="2880271"/>
            <a:ext cx="203061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Interface (Supervision)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4400" y="3177629"/>
            <a:ext cx="8858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em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800225" y="3177629"/>
            <a:ext cx="11590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TypeScript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85813" y="3375868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de dados em tempo real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85813" y="3574107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relatórios e alertas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14863" y="2777579"/>
            <a:ext cx="3957638" cy="1385888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2868662"/>
            <a:ext cx="200025" cy="2000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14925" y="2865983"/>
            <a:ext cx="10626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Inteligência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57763" y="3163342"/>
            <a:ext cx="5482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de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506045" y="3163342"/>
            <a:ext cx="8054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Fuzzy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311503" y="3163342"/>
            <a:ext cx="6518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Python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829175" y="3361581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automático de severidade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829175" y="3559820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preditiva de tendências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ARQUITETURA DO SISTEMA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42900" y="1305967"/>
            <a:ext cx="1841302" cy="25717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18" y="1461343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8112" y="1881039"/>
            <a:ext cx="13001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CAMADA FÍSICA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59023" y="2140000"/>
            <a:ext cx="998339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Sensores SCT-013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59023" y="2392877"/>
            <a:ext cx="998339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DS18B20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59023" y="2645755"/>
            <a:ext cx="998339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MPU6050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73" y="2506117"/>
            <a:ext cx="107156" cy="1714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537817" y="1305967"/>
            <a:ext cx="1844873" cy="25717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874" y="1461343"/>
            <a:ext cx="357188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55689" y="1881039"/>
            <a:ext cx="160555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CAMADA EMBARCADA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2845891" y="2313236"/>
            <a:ext cx="122515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ESP32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2845891" y="2566113"/>
            <a:ext cx="122515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RMS e FFT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2845891" y="2818991"/>
            <a:ext cx="122515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de Inrush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134" y="2506117"/>
            <a:ext cx="107156" cy="17145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739878" y="1305967"/>
            <a:ext cx="1848445" cy="25717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7293" y="1461343"/>
            <a:ext cx="357188" cy="285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40809" y="1881039"/>
            <a:ext cx="125015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COMUNICAÇÃO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5203329" y="2140000"/>
            <a:ext cx="925116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 Mosquitto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5203329" y="2392877"/>
            <a:ext cx="925116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MQTT</a:t>
            </a:r>
            <a:endParaRPr lang="en-US" sz="850" dirty="0"/>
          </a:p>
        </p:txBody>
      </p:sp>
      <p:sp>
        <p:nvSpPr>
          <p:cNvPr id="23" name="Text 15"/>
          <p:cNvSpPr/>
          <p:nvPr/>
        </p:nvSpPr>
        <p:spPr>
          <a:xfrm>
            <a:off x="5203329" y="2645755"/>
            <a:ext cx="925116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Payloads JSON</a:t>
            </a:r>
            <a:endParaRPr lang="en-US" sz="8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3339" y="2506117"/>
            <a:ext cx="107156" cy="17145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6949083" y="1305967"/>
            <a:ext cx="1852017" cy="25717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9715" y="1461343"/>
            <a:ext cx="321469" cy="2857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06283" y="1881039"/>
            <a:ext cx="94833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APLICAÇÃO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258943" y="2140000"/>
            <a:ext cx="124301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React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7258943" y="2392877"/>
            <a:ext cx="124301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Fuzzy (Python)</a:t>
            </a:r>
            <a:endParaRPr lang="en-US" sz="850" dirty="0"/>
          </a:p>
        </p:txBody>
      </p:sp>
      <p:sp>
        <p:nvSpPr>
          <p:cNvPr id="30" name="Text 20"/>
          <p:cNvSpPr/>
          <p:nvPr/>
        </p:nvSpPr>
        <p:spPr>
          <a:xfrm>
            <a:off x="7258943" y="2645755"/>
            <a:ext cx="1243013" cy="195728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em Tempo Real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IMPLEMENTAÇÃO DO FIRMWARE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62001"/>
            <a:ext cx="3857625" cy="16573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97744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5863" y="1610246"/>
            <a:ext cx="124479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Modularidade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85813" y="1960290"/>
            <a:ext cx="34290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sensor possui seu próprio par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.h/.cpp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independente, facilitando a manutenção e testes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isolados.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14875" y="1362001"/>
            <a:ext cx="3857625" cy="16573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59774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00663" y="1610246"/>
            <a:ext cx="12108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Portabilidade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29188" y="1960290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código compila para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 UNO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(simulação) e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(físico) sem alterações manuais.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3290813"/>
            <a:ext cx="3857625" cy="16573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526557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7288" y="3539058"/>
            <a:ext cx="86975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Eficiência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85813" y="3889102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exclusivo de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millis()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controle de tempo,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garantindo um loop não-bloqueante e multitarefa real.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714875" y="3290813"/>
            <a:ext cx="3857625" cy="1657350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526557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0663" y="3539058"/>
            <a:ext cx="90725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Abstração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29188" y="3889102"/>
            <a:ext cx="3429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de </a:t>
            </a:r>
            <a:r>
              <a:rPr lang="en-US" sz="9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publicador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oculta se o dado vai para a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ou MQTT, simplificando a lógica principal.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ANÁLISE DE VIBRAÇÃO (FFT)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6129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519163"/>
            <a:ext cx="175914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Processamento Local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831702"/>
            <a:ext cx="3338085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85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Transformada Rápida de Fourier (FFT)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executada 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diretamente no microcontrolador, permitindo análise em 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real sem sobrecarregar a rede.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45894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2628928"/>
            <a:ext cx="141624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Frequências Alvo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500" y="2941467"/>
            <a:ext cx="3338085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focado na fundamental de magnetostrição 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85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120Hz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e suas harmônicas (</a:t>
            </a:r>
            <a:r>
              <a:rPr lang="en-US" sz="85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240Hz a 600Hz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para </a:t>
            </a: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anomalias mecânicas.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55659"/>
            <a:ext cx="176808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4033" y="3738693"/>
            <a:ext cx="1959173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Otimização de Memória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571500" y="4051232"/>
            <a:ext cx="3338085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ajustado para 32 amostras @ 1920Hz, garantindo precisão espectral dentro dos limites de RAM do hardware.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4266772" y="1362001"/>
            <a:ext cx="4305728" cy="3746674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416149" y="1710035"/>
            <a:ext cx="4013476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Espectro de Harmônicas (Exemplo)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149" y="2015430"/>
            <a:ext cx="4004072" cy="27146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16149" y="4872930"/>
            <a:ext cx="401347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Distribuição de amplitude (g) por bin de frequência.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SIMULAÇÃO COM PROTEUS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62001"/>
            <a:ext cx="3857625" cy="3228975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97744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1569" y="1610246"/>
            <a:ext cx="154305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Ambiente Virtual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67446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556" y="2031727"/>
            <a:ext cx="31861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de Circuito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1021556" y="2204963"/>
            <a:ext cx="30360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de condicionamento de sinais e lógica de controle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021556" y="2342480"/>
            <a:ext cx="109835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da montagem.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658591"/>
            <a:ext cx="128588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1556" y="2622872"/>
            <a:ext cx="31861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1021556" y="2796108"/>
            <a:ext cx="301287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sem risco de danos aos componentes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1021556" y="2933626"/>
            <a:ext cx="6822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físicos reais.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249737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1556" y="3214018"/>
            <a:ext cx="31861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Agilidade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1021556" y="3387254"/>
            <a:ext cx="296108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rápido de prototipagem e depuração de firmware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1021556" y="3524771"/>
            <a:ext cx="4661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707731" y="1362001"/>
            <a:ext cx="3864769" cy="3228975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97744"/>
            <a:ext cx="28575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22094" y="1610246"/>
            <a:ext cx="142517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Ponte de Dados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067446"/>
            <a:ext cx="160734" cy="128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97078" y="2031727"/>
            <a:ext cx="316110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 para MQTT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5197078" y="2204963"/>
            <a:ext cx="28896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 Python (bridge.py) que conecta o simulador ao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5197078" y="2342480"/>
            <a:ext cx="6393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mundo real.</a:t>
            </a:r>
            <a:endParaRPr lang="en-US" sz="8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658591"/>
            <a:ext cx="128588" cy="1285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64931" y="2622872"/>
            <a:ext cx="31932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Total</a:t>
            </a:r>
            <a:endParaRPr lang="en-US" sz="800" dirty="0"/>
          </a:p>
        </p:txBody>
      </p:sp>
      <p:sp>
        <p:nvSpPr>
          <p:cNvPr id="28" name="Text 18"/>
          <p:cNvSpPr/>
          <p:nvPr/>
        </p:nvSpPr>
        <p:spPr>
          <a:xfrm>
            <a:off x="5164931" y="2796108"/>
            <a:ext cx="256282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simulados alimentam o dashboard React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5164931" y="2933626"/>
            <a:ext cx="19609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exatamente como o hardware físico.</a:t>
            </a:r>
            <a:endParaRPr lang="en-US" sz="850" dirty="0"/>
          </a:p>
        </p:txBody>
      </p:sp>
      <p:sp>
        <p:nvSpPr>
          <p:cNvPr id="30" name="Text 20"/>
          <p:cNvSpPr/>
          <p:nvPr/>
        </p:nvSpPr>
        <p:spPr>
          <a:xfrm>
            <a:off x="4929188" y="3214018"/>
            <a:ext cx="3241588" cy="42148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PROTEUS (Serial) → COMPIM → BRIDGE.PY → BROKER MQTT → DASHBOARD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8341"/>
            <a:ext cx="8572500" cy="417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CONCLUSÃO E RESULTADOS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06649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519163"/>
            <a:ext cx="396335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Viabilidade Técnica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885825" y="1838846"/>
            <a:ext cx="396335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 funcional validado com sucesso, integrando sensores reais e simulação avançada.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2157"/>
            <a:ext cx="192881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7256" y="2724671"/>
            <a:ext cx="394192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Impacto Econômico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907256" y="3044354"/>
            <a:ext cx="394192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drástica no custo de monitoramento, permitindo acesso à manutenção preditiva para PMEs.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7665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7256" y="3930179"/>
            <a:ext cx="3941927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Sintetização de Dados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907256" y="4249862"/>
            <a:ext cx="394192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Transformação de sinais complexos (FFT/RMS) em diagnósticos claros e alertas acionáveis.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277808" y="1362001"/>
            <a:ext cx="3294692" cy="3616523"/>
          </a:xfrm>
          <a:prstGeom prst="rect">
            <a:avLst/>
          </a:prstGeom>
          <a:solidFill>
            <a:srgbClr val="3182CE">
              <a:alpha val="5000"/>
            </a:srgbClr>
          </a:solidFill>
          <a:ln w="9144">
            <a:solidFill>
              <a:srgbClr val="3182CE">
                <a:alpha val="2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500688" y="1576313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PRÓXIMOS PASSOS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688" y="1977256"/>
            <a:ext cx="112514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20358" y="1963862"/>
            <a:ext cx="187702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Expansão para múltiplos ativos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688" y="2275508"/>
            <a:ext cx="112514" cy="1285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20358" y="2262113"/>
            <a:ext cx="174664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Refinamento do motor Fuzzy</a:t>
            </a:r>
            <a:endParaRPr lang="en-US" sz="9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0688" y="2573759"/>
            <a:ext cx="112514" cy="1285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720358" y="2560365"/>
            <a:ext cx="184844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Cloud Storage</a:t>
            </a:r>
            <a:endParaRPr lang="en-US" sz="9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688" y="2872011"/>
            <a:ext cx="112514" cy="12858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720358" y="2858616"/>
            <a:ext cx="138588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prática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0" y="4736306"/>
            <a:ext cx="9144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Integrador — Engenharia da Computação · UEMA ·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2026-05-18T14:54:45Z</dcterms:created>
  <dcterms:modified xsi:type="dcterms:W3CDTF">2026-05-18T14:54:45Z</dcterms:modified>
</cp:coreProperties>
</file>